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2" r:id="rId1"/>
  </p:sldMasterIdLst>
  <p:sldIdLst>
    <p:sldId id="271" r:id="rId2"/>
    <p:sldId id="257" r:id="rId3"/>
    <p:sldId id="278" r:id="rId4"/>
    <p:sldId id="276" r:id="rId5"/>
    <p:sldId id="273" r:id="rId6"/>
    <p:sldId id="269" r:id="rId7"/>
    <p:sldId id="270" r:id="rId8"/>
    <p:sldId id="259" r:id="rId9"/>
    <p:sldId id="260" r:id="rId10"/>
    <p:sldId id="261" r:id="rId11"/>
    <p:sldId id="264" r:id="rId12"/>
    <p:sldId id="266" r:id="rId13"/>
    <p:sldId id="274" r:id="rId14"/>
    <p:sldId id="275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23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50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526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13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54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865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320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279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915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00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81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118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82619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7187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48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408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75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871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474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354" y="108750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/>
              <a:t>Group Members</a:t>
            </a:r>
            <a:endParaRPr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2676017"/>
            <a:ext cx="7675350" cy="2572639"/>
          </a:xfrm>
        </p:spPr>
        <p:txBody>
          <a:bodyPr>
            <a:normAutofit/>
          </a:bodyPr>
          <a:lstStyle/>
          <a:p>
            <a:pPr algn="ctr"/>
            <a:r>
              <a:rPr lang="en-US" sz="3200" dirty="0" err="1" smtClean="0"/>
              <a:t>Owais</a:t>
            </a:r>
            <a:r>
              <a:rPr lang="en-US" sz="3200" dirty="0" smtClean="0"/>
              <a:t> Ahmed Khan</a:t>
            </a:r>
          </a:p>
          <a:p>
            <a:pPr algn="ctr"/>
            <a:r>
              <a:rPr lang="en-US" sz="3200" dirty="0" smtClean="0"/>
              <a:t>Muhammad Shiraz </a:t>
            </a:r>
          </a:p>
        </p:txBody>
      </p:sp>
    </p:spTree>
    <p:extLst>
      <p:ext uri="{BB962C8B-B14F-4D97-AF65-F5344CB8AC3E}">
        <p14:creationId xmlns:p14="http://schemas.microsoft.com/office/powerpoint/2010/main" val="2001185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325" y="669989"/>
            <a:ext cx="7886700" cy="1325563"/>
          </a:xfrm>
        </p:spPr>
        <p:txBody>
          <a:bodyPr/>
          <a:lstStyle/>
          <a:p>
            <a:pPr algn="ctr"/>
            <a:r>
              <a:rPr dirty="0"/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182" y="1666368"/>
            <a:ext cx="8026665" cy="4351338"/>
          </a:xfrm>
        </p:spPr>
        <p:txBody>
          <a:bodyPr>
            <a:normAutofit/>
          </a:bodyPr>
          <a:lstStyle/>
          <a:p>
            <a:endParaRPr sz="2800" dirty="0"/>
          </a:p>
          <a:p>
            <a:pPr lvl="1"/>
            <a:r>
              <a:rPr sz="2800" dirty="0"/>
              <a:t>Decode video scrambled using (</a:t>
            </a:r>
            <a:r>
              <a:rPr sz="2800" dirty="0" err="1"/>
              <a:t>r,s</a:t>
            </a:r>
            <a:r>
              <a:rPr sz="2800" dirty="0"/>
              <a:t>) line permutation</a:t>
            </a:r>
          </a:p>
          <a:p>
            <a:pPr lvl="1"/>
            <a:r>
              <a:rPr sz="2800" dirty="0" smtClean="0"/>
              <a:t>Height </a:t>
            </a:r>
            <a:r>
              <a:rPr sz="2800" dirty="0"/>
              <a:t>processed in iterative power-of-two blocks</a:t>
            </a:r>
          </a:p>
          <a:p>
            <a:pPr lvl="1"/>
            <a:r>
              <a:rPr sz="2800" dirty="0"/>
              <a:t>Tasks: Detect key (</a:t>
            </a:r>
            <a:r>
              <a:rPr sz="2800" dirty="0" err="1"/>
              <a:t>r,s</a:t>
            </a:r>
            <a:r>
              <a:rPr sz="2800" dirty="0"/>
              <a:t>) + Unscramble video in real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325" y="532829"/>
            <a:ext cx="7886700" cy="1325563"/>
          </a:xfrm>
        </p:spPr>
        <p:txBody>
          <a:bodyPr/>
          <a:lstStyle/>
          <a:p>
            <a:pPr algn="ctr"/>
            <a:r>
              <a:rPr lang="en-US" dirty="0" smtClean="0"/>
              <a:t>Main </a:t>
            </a:r>
            <a:r>
              <a:rPr lang="en-US" dirty="0"/>
              <a:t>work of the GPU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182" y="1410336"/>
            <a:ext cx="8026665" cy="4351338"/>
          </a:xfrm>
        </p:spPr>
        <p:txBody>
          <a:bodyPr>
            <a:normAutofit fontScale="92500"/>
          </a:bodyPr>
          <a:lstStyle/>
          <a:p>
            <a:endParaRPr sz="2800" dirty="0"/>
          </a:p>
          <a:p>
            <a:pPr lvl="1"/>
            <a:r>
              <a:rPr lang="en-US" sz="2800" dirty="0"/>
              <a:t>It performs two specific heavy-lifting tasks at the same </a:t>
            </a:r>
            <a:r>
              <a:rPr lang="en-US" sz="2800" dirty="0" smtClean="0"/>
              <a:t>time.</a:t>
            </a:r>
          </a:p>
          <a:p>
            <a:pPr lvl="1"/>
            <a:r>
              <a:rPr lang="en-US" sz="2800" dirty="0" smtClean="0"/>
              <a:t>Parallel Scoring, It </a:t>
            </a:r>
            <a:r>
              <a:rPr lang="en-US" sz="2800" dirty="0"/>
              <a:t>checks thousands of potential keys simultaneously to find the correct one instantly, rather than checking them one by one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Parallel </a:t>
            </a:r>
            <a:r>
              <a:rPr lang="en-US" sz="2800" dirty="0"/>
              <a:t>Pixel </a:t>
            </a:r>
            <a:r>
              <a:rPr lang="en-US" sz="2800" dirty="0" smtClean="0"/>
              <a:t>Moving, It </a:t>
            </a:r>
            <a:r>
              <a:rPr lang="en-US" sz="2800" dirty="0"/>
              <a:t>moves millions of pixels at the same time to unscramble the video frames instantly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Think </a:t>
            </a:r>
            <a:r>
              <a:rPr lang="en-US" sz="2800" dirty="0"/>
              <a:t>of it this </a:t>
            </a:r>
            <a:r>
              <a:rPr lang="en-US" sz="2800" dirty="0" smtClean="0"/>
              <a:t>way, The </a:t>
            </a:r>
            <a:r>
              <a:rPr lang="en-US" sz="2800" dirty="0"/>
              <a:t>CPU is the manager that gives orders; the GPU is the army of thousands of workers that executes those orders all at once.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81260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7350" y="256032"/>
            <a:ext cx="5200650" cy="1006474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Step-by-Step Explanation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4607" y="1262506"/>
            <a:ext cx="7946136" cy="52486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Load the scrambled video using </a:t>
            </a:r>
            <a:r>
              <a:rPr lang="en-US" dirty="0" err="1" smtClean="0"/>
              <a:t>OpenCV</a:t>
            </a:r>
            <a:endParaRPr lang="en-US" dirty="0" smtClean="0"/>
          </a:p>
          <a:p>
            <a:pPr>
              <a:lnSpc>
                <a:spcPct val="100000"/>
              </a:lnSpc>
            </a:pPr>
            <a:r>
              <a:rPr lang="en-US" dirty="0" smtClean="0"/>
              <a:t>Convert </a:t>
            </a:r>
            <a:r>
              <a:rPr lang="en-US" dirty="0"/>
              <a:t>the first frame to grayscale for key </a:t>
            </a:r>
            <a:r>
              <a:rPr lang="en-US" dirty="0" smtClean="0"/>
              <a:t>evaluation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Generate </a:t>
            </a:r>
            <a:r>
              <a:rPr lang="en-US" dirty="0"/>
              <a:t>all possible permutations for every candidate key (r, s) on the </a:t>
            </a:r>
            <a:r>
              <a:rPr lang="en-US" dirty="0" smtClean="0"/>
              <a:t>CPU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Send </a:t>
            </a:r>
            <a:r>
              <a:rPr lang="en-US" dirty="0"/>
              <a:t>all permutations and the grayscale frame to the </a:t>
            </a:r>
            <a:r>
              <a:rPr lang="en-US" dirty="0" smtClean="0"/>
              <a:t>GPU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Score </a:t>
            </a:r>
            <a:r>
              <a:rPr lang="en-US" dirty="0"/>
              <a:t>every key in parallel on the GPU using row </a:t>
            </a:r>
            <a:r>
              <a:rPr lang="en-US" dirty="0" smtClean="0"/>
              <a:t>similarity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Select </a:t>
            </a:r>
            <a:r>
              <a:rPr lang="en-US" dirty="0"/>
              <a:t>the key with the lowest score (the correct unscrambling key</a:t>
            </a:r>
            <a:r>
              <a:rPr lang="en-US" dirty="0" smtClean="0"/>
              <a:t>)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Regenerate </a:t>
            </a:r>
            <a:r>
              <a:rPr lang="en-US" dirty="0"/>
              <a:t>the full permutation for the best </a:t>
            </a:r>
            <a:r>
              <a:rPr lang="en-US" dirty="0" smtClean="0"/>
              <a:t>key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Send </a:t>
            </a:r>
            <a:r>
              <a:rPr lang="en-US" dirty="0"/>
              <a:t>the best permutation to the </a:t>
            </a:r>
            <a:r>
              <a:rPr lang="en-US" dirty="0" smtClean="0"/>
              <a:t>GPU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Unscramble </a:t>
            </a:r>
            <a:r>
              <a:rPr lang="en-US" dirty="0"/>
              <a:t>each video frame in parallel on the GPU using the </a:t>
            </a:r>
            <a:r>
              <a:rPr lang="en-US" dirty="0" smtClean="0"/>
              <a:t>permutation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Copy </a:t>
            </a:r>
            <a:r>
              <a:rPr lang="en-US" dirty="0"/>
              <a:t>restored frames back to the </a:t>
            </a:r>
            <a:r>
              <a:rPr lang="en-US" dirty="0" smtClean="0"/>
              <a:t>CPU</a:t>
            </a:r>
          </a:p>
          <a:p>
            <a:pPr>
              <a:lnSpc>
                <a:spcPct val="100000"/>
              </a:lnSpc>
            </a:pPr>
            <a:r>
              <a:rPr lang="en-US" dirty="0" smtClean="0"/>
              <a:t>Display </a:t>
            </a:r>
            <a:r>
              <a:rPr lang="en-US" dirty="0"/>
              <a:t>the clean video and save it to a file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8252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946" y="493142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Step-by-Step Explanation</a:t>
            </a:r>
            <a:endParaRPr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2" t="8304" r="4898" b="7183"/>
          <a:stretch/>
        </p:blipFill>
        <p:spPr>
          <a:xfrm>
            <a:off x="998219" y="1921764"/>
            <a:ext cx="7665391" cy="391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489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Scrambling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one block of size lines (size must be a power of two</a:t>
            </a:r>
            <a:r>
              <a:rPr lang="en-US" dirty="0" smtClean="0"/>
              <a:t>)</a:t>
            </a:r>
          </a:p>
          <a:p>
            <a:r>
              <a:rPr lang="en-US" dirty="0" smtClean="0"/>
              <a:t>Input </a:t>
            </a:r>
            <a:r>
              <a:rPr lang="en-US" dirty="0"/>
              <a:t>(clear) line </a:t>
            </a:r>
            <a:r>
              <a:rPr lang="en-US" dirty="0" smtClean="0"/>
              <a:t>index:</a:t>
            </a:r>
          </a:p>
          <a:p>
            <a:pPr marL="0" indent="0">
              <a:buNone/>
            </a:pPr>
            <a:r>
              <a:rPr lang="en-US" dirty="0" err="1" smtClean="0"/>
              <a:t>idLine</a:t>
            </a:r>
            <a:r>
              <a:rPr lang="en-US" dirty="0" smtClean="0"/>
              <a:t> </a:t>
            </a:r>
            <a:r>
              <a:rPr lang="en-US" dirty="0"/>
              <a:t>(0 at the top of the block</a:t>
            </a:r>
            <a:r>
              <a:rPr lang="en-US" dirty="0" smtClean="0"/>
              <a:t>)</a:t>
            </a:r>
          </a:p>
          <a:p>
            <a:r>
              <a:rPr lang="en-US" dirty="0" smtClean="0"/>
              <a:t>Output </a:t>
            </a:r>
            <a:r>
              <a:rPr lang="en-US" dirty="0"/>
              <a:t>(scrambled) line index</a:t>
            </a:r>
            <a:r>
              <a:rPr lang="en-US" dirty="0" smtClean="0"/>
              <a:t>:</a:t>
            </a:r>
          </a:p>
          <a:p>
            <a:pPr marL="0" lvl="1" indent="0" algn="ctr">
              <a:spcBef>
                <a:spcPts val="750"/>
              </a:spcBef>
              <a:buNone/>
            </a:pPr>
            <a:r>
              <a:rPr lang="en-US" b="1" dirty="0"/>
              <a:t>Scrambling rule: (r + (2s+1)*</a:t>
            </a:r>
            <a:r>
              <a:rPr lang="en-US" b="1" dirty="0" err="1"/>
              <a:t>cleanRow</a:t>
            </a:r>
            <a:r>
              <a:rPr lang="en-US" b="1" dirty="0"/>
              <a:t>) mod </a:t>
            </a:r>
            <a:r>
              <a:rPr lang="en-US" b="1" dirty="0" err="1" smtClean="0"/>
              <a:t>blockSize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Where:</a:t>
            </a:r>
          </a:p>
          <a:p>
            <a:pPr marL="0" indent="0">
              <a:buNone/>
            </a:pPr>
            <a:r>
              <a:rPr lang="en-US" dirty="0" smtClean="0"/>
              <a:t>r </a:t>
            </a:r>
            <a:r>
              <a:rPr lang="en-US" dirty="0"/>
              <a:t>= offset on 8 </a:t>
            </a:r>
            <a:r>
              <a:rPr lang="en-US" dirty="0" smtClean="0"/>
              <a:t>bits</a:t>
            </a:r>
          </a:p>
          <a:p>
            <a:pPr marL="0" indent="0">
              <a:buNone/>
            </a:pPr>
            <a:r>
              <a:rPr lang="en-US" dirty="0" smtClean="0"/>
              <a:t>s </a:t>
            </a:r>
            <a:r>
              <a:rPr lang="en-US" dirty="0"/>
              <a:t>= step on 7 </a:t>
            </a:r>
            <a:r>
              <a:rPr lang="en-US" dirty="0" smtClean="0"/>
              <a:t>bits</a:t>
            </a:r>
          </a:p>
          <a:p>
            <a:pPr marL="0" indent="0">
              <a:buNone/>
            </a:pPr>
            <a:r>
              <a:rPr lang="en-US" dirty="0" smtClean="0"/>
              <a:t>Together </a:t>
            </a:r>
            <a:r>
              <a:rPr lang="en-US" dirty="0"/>
              <a:t>(r, s) is the secret key. </a:t>
            </a:r>
          </a:p>
        </p:txBody>
      </p:sp>
    </p:spTree>
    <p:extLst>
      <p:ext uri="{BB962C8B-B14F-4D97-AF65-F5344CB8AC3E}">
        <p14:creationId xmlns:p14="http://schemas.microsoft.com/office/powerpoint/2010/main" val="993317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Exact Key Generation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790" y="1690689"/>
            <a:ext cx="8642419" cy="431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42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7300" y="895478"/>
            <a:ext cx="7886700" cy="1325563"/>
          </a:xfrm>
        </p:spPr>
        <p:txBody>
          <a:bodyPr/>
          <a:lstStyle/>
          <a:p>
            <a:r>
              <a:rPr dirty="0"/>
              <a:t>Permutation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800" dirty="0"/>
          </a:p>
          <a:p>
            <a:pPr lvl="1"/>
            <a:r>
              <a:rPr sz="2800" dirty="0"/>
              <a:t>Iterative block decomposition (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512→256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128</a:t>
            </a:r>
            <a:r>
              <a:rPr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sz="2800" dirty="0">
                <a:latin typeface="Arial" panose="020B0604020202020204" pitchFamily="34" charset="0"/>
                <a:cs typeface="Arial" panose="020B0604020202020204" pitchFamily="34" charset="0"/>
              </a:rPr>
              <a:t>...)</a:t>
            </a:r>
          </a:p>
          <a:p>
            <a:pPr lvl="1"/>
            <a:r>
              <a:rPr sz="2800" dirty="0"/>
              <a:t>Compute mapping </a:t>
            </a:r>
            <a:r>
              <a:rPr sz="2800" dirty="0" smtClean="0"/>
              <a:t>clean</a:t>
            </a:r>
            <a:r>
              <a:rPr lang="en-US" sz="2800" dirty="0" smtClean="0"/>
              <a:t> into </a:t>
            </a:r>
            <a:r>
              <a:rPr sz="2800" dirty="0" smtClean="0"/>
              <a:t>scrambled </a:t>
            </a:r>
            <a:r>
              <a:rPr sz="2800" dirty="0"/>
              <a:t>for each key</a:t>
            </a:r>
          </a:p>
          <a:p>
            <a:pPr lvl="1"/>
            <a:r>
              <a:rPr sz="2800" dirty="0"/>
              <a:t>Implemented fully on CPU for efficiency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82308"/>
            <a:ext cx="7886700" cy="1325563"/>
          </a:xfrm>
        </p:spPr>
        <p:txBody>
          <a:bodyPr/>
          <a:lstStyle/>
          <a:p>
            <a:pPr algn="ctr"/>
            <a:r>
              <a:rPr dirty="0"/>
              <a:t>Why CPU for Permutations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51889"/>
            <a:ext cx="7675350" cy="4351338"/>
          </a:xfrm>
        </p:spPr>
        <p:txBody>
          <a:bodyPr/>
          <a:lstStyle/>
          <a:p>
            <a:endParaRPr dirty="0"/>
          </a:p>
          <a:p>
            <a:pPr lvl="1"/>
            <a:r>
              <a:rPr sz="2800" dirty="0"/>
              <a:t>Avoids heavy per-thread math on GPU</a:t>
            </a:r>
          </a:p>
          <a:p>
            <a:pPr lvl="1"/>
            <a:r>
              <a:rPr sz="2800" dirty="0"/>
              <a:t>Prevents warp divergence</a:t>
            </a:r>
          </a:p>
          <a:p>
            <a:pPr lvl="1"/>
            <a:r>
              <a:rPr sz="2800" dirty="0"/>
              <a:t>Improves memory locality</a:t>
            </a:r>
          </a:p>
          <a:p>
            <a:pPr lvl="1"/>
            <a:r>
              <a:rPr sz="2800" dirty="0" err="1"/>
              <a:t>Jetson</a:t>
            </a:r>
            <a:r>
              <a:rPr sz="2800" dirty="0"/>
              <a:t> Nano has enough RAM to store all permutations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8630"/>
            <a:ext cx="7886700" cy="1325563"/>
          </a:xfrm>
        </p:spPr>
        <p:txBody>
          <a:bodyPr/>
          <a:lstStyle/>
          <a:p>
            <a:pPr algn="ctr"/>
            <a:r>
              <a:rPr dirty="0"/>
              <a:t>GPU Key Scoring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907921"/>
            <a:ext cx="7675350" cy="2718943"/>
          </a:xfrm>
        </p:spPr>
        <p:txBody>
          <a:bodyPr/>
          <a:lstStyle/>
          <a:p>
            <a:endParaRPr dirty="0"/>
          </a:p>
          <a:p>
            <a:pPr lvl="1"/>
            <a:r>
              <a:rPr sz="2800" dirty="0"/>
              <a:t>1 block = 1 key</a:t>
            </a:r>
          </a:p>
          <a:p>
            <a:pPr lvl="1"/>
            <a:r>
              <a:rPr sz="2800" dirty="0"/>
              <a:t>256 threads per block compare rows</a:t>
            </a:r>
          </a:p>
          <a:p>
            <a:pPr lvl="1"/>
            <a:r>
              <a:rPr sz="2800" dirty="0"/>
              <a:t>Shared memory reduction</a:t>
            </a:r>
          </a:p>
          <a:p>
            <a:pPr lvl="1"/>
            <a:r>
              <a:rPr sz="2800" dirty="0"/>
              <a:t>Sparse pixel sampling (x += 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56094"/>
            <a:ext cx="7886700" cy="1325563"/>
          </a:xfrm>
        </p:spPr>
        <p:txBody>
          <a:bodyPr/>
          <a:lstStyle/>
          <a:p>
            <a:pPr algn="ctr"/>
            <a:r>
              <a:rPr dirty="0"/>
              <a:t>Unscramble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0000" y="1743329"/>
            <a:ext cx="7675350" cy="3505327"/>
          </a:xfrm>
        </p:spPr>
        <p:txBody>
          <a:bodyPr>
            <a:normAutofit/>
          </a:bodyPr>
          <a:lstStyle/>
          <a:p>
            <a:endParaRPr sz="2800" dirty="0"/>
          </a:p>
          <a:p>
            <a:pPr lvl="1"/>
            <a:r>
              <a:rPr sz="2800" dirty="0"/>
              <a:t>32×32 threads per block</a:t>
            </a:r>
          </a:p>
          <a:p>
            <a:pPr lvl="1"/>
            <a:r>
              <a:rPr sz="2800" dirty="0"/>
              <a:t>1 thread = 1 pixel</a:t>
            </a:r>
          </a:p>
          <a:p>
            <a:pPr lvl="1"/>
            <a:r>
              <a:rPr sz="2800" dirty="0"/>
              <a:t>Coalesced memory access</a:t>
            </a:r>
          </a:p>
          <a:p>
            <a:pPr lvl="1"/>
            <a:r>
              <a:rPr sz="2800" dirty="0"/>
              <a:t>Real-time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849758"/>
            <a:ext cx="7886700" cy="1325563"/>
          </a:xfrm>
        </p:spPr>
        <p:txBody>
          <a:bodyPr/>
          <a:lstStyle/>
          <a:p>
            <a:pPr algn="ctr"/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800" dirty="0"/>
              <a:t>Correct (</a:t>
            </a:r>
            <a:r>
              <a:rPr sz="2800" dirty="0" err="1"/>
              <a:t>r,s</a:t>
            </a:r>
            <a:r>
              <a:rPr sz="2800" dirty="0"/>
              <a:t>) consistently detected</a:t>
            </a:r>
          </a:p>
          <a:p>
            <a:pPr lvl="1"/>
            <a:r>
              <a:rPr sz="2800" dirty="0"/>
              <a:t>Clean video reconstruction</a:t>
            </a:r>
          </a:p>
          <a:p>
            <a:pPr lvl="1"/>
            <a:r>
              <a:rPr sz="2800" dirty="0"/>
              <a:t>Preview + FPS overlay + output saved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712598"/>
            <a:ext cx="7886700" cy="1325563"/>
          </a:xfrm>
        </p:spPr>
        <p:txBody>
          <a:bodyPr/>
          <a:lstStyle/>
          <a:p>
            <a:pPr algn="ctr"/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sz="2800" dirty="0"/>
              <a:t>Correct (</a:t>
            </a:r>
            <a:r>
              <a:rPr sz="2800" dirty="0" err="1"/>
              <a:t>r,s</a:t>
            </a:r>
            <a:r>
              <a:rPr sz="2800" dirty="0"/>
              <a:t>) consistently detected</a:t>
            </a:r>
          </a:p>
          <a:p>
            <a:pPr lvl="1"/>
            <a:r>
              <a:rPr sz="2800" dirty="0"/>
              <a:t>Clean video reconstruction</a:t>
            </a:r>
          </a:p>
          <a:p>
            <a:pPr lvl="1"/>
            <a:r>
              <a:rPr sz="2800" dirty="0"/>
              <a:t>Preview + FPS overlay + output saved</a:t>
            </a:r>
          </a:p>
        </p:txBody>
      </p:sp>
    </p:spTree>
    <p:extLst>
      <p:ext uri="{BB962C8B-B14F-4D97-AF65-F5344CB8AC3E}">
        <p14:creationId xmlns:p14="http://schemas.microsoft.com/office/powerpoint/2010/main" val="2374634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1842" y="575122"/>
            <a:ext cx="7226046" cy="750442"/>
          </a:xfrm>
        </p:spPr>
        <p:txBody>
          <a:bodyPr/>
          <a:lstStyle/>
          <a:p>
            <a:pPr algn="ctr"/>
            <a:r>
              <a:rPr lang="en-US" dirty="0"/>
              <a:t>Conclusion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24" y="1106108"/>
            <a:ext cx="8094726" cy="5216843"/>
          </a:xfrm>
        </p:spPr>
        <p:txBody>
          <a:bodyPr>
            <a:normAutofit/>
          </a:bodyPr>
          <a:lstStyle/>
          <a:p>
            <a:endParaRPr dirty="0"/>
          </a:p>
          <a:p>
            <a:pPr lvl="1"/>
            <a:r>
              <a:rPr lang="en-US" sz="2800" dirty="0"/>
              <a:t>The project successfully demonstrated an end-to-end pipeline for recovering a scrambled video by automatically identifying the correct permutation </a:t>
            </a:r>
            <a:r>
              <a:rPr lang="en-US" sz="2800" dirty="0" smtClean="0"/>
              <a:t>key.</a:t>
            </a:r>
          </a:p>
          <a:p>
            <a:pPr lvl="1"/>
            <a:r>
              <a:rPr lang="en-US" sz="2800" dirty="0" smtClean="0"/>
              <a:t>A </a:t>
            </a:r>
            <a:r>
              <a:rPr lang="en-US" sz="2800" dirty="0"/>
              <a:t>full key-search strategy was implemented, generating all candidate permutations on the CPU based on the mathematical scrambling </a:t>
            </a:r>
            <a:r>
              <a:rPr lang="en-US" sz="2800" dirty="0" smtClean="0"/>
              <a:t>function.</a:t>
            </a:r>
          </a:p>
          <a:p>
            <a:pPr lvl="1"/>
            <a:r>
              <a:rPr lang="en-US" sz="2800" dirty="0" smtClean="0"/>
              <a:t>GPU-accelerated </a:t>
            </a:r>
            <a:r>
              <a:rPr lang="en-US" sz="2800" dirty="0"/>
              <a:t>scoring using CUDA enabled fast evaluation of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32,768</a:t>
            </a:r>
            <a:r>
              <a:rPr lang="en-US" sz="2800" dirty="0"/>
              <a:t> keys, significantly reducing processing time compared to a CPU-only brute-force </a:t>
            </a:r>
            <a:r>
              <a:rPr lang="en-US" sz="2800" dirty="0" smtClean="0"/>
              <a:t>approach.</a:t>
            </a:r>
          </a:p>
        </p:txBody>
      </p:sp>
    </p:spTree>
    <p:extLst>
      <p:ext uri="{BB962C8B-B14F-4D97-AF65-F5344CB8AC3E}">
        <p14:creationId xmlns:p14="http://schemas.microsoft.com/office/powerpoint/2010/main" val="1981240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402" y="492826"/>
            <a:ext cx="7226046" cy="750442"/>
          </a:xfrm>
        </p:spPr>
        <p:txBody>
          <a:bodyPr/>
          <a:lstStyle/>
          <a:p>
            <a:pPr algn="ctr"/>
            <a:r>
              <a:rPr lang="en-US" dirty="0"/>
              <a:t>Conclusion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0624" y="1106108"/>
            <a:ext cx="8430768" cy="5486400"/>
          </a:xfrm>
        </p:spPr>
        <p:txBody>
          <a:bodyPr>
            <a:normAutofit fontScale="92500" lnSpcReduction="20000"/>
          </a:bodyPr>
          <a:lstStyle/>
          <a:p>
            <a:endParaRPr dirty="0"/>
          </a:p>
          <a:p>
            <a:pPr lvl="1"/>
            <a:r>
              <a:rPr lang="en-US" sz="2800" dirty="0" smtClean="0"/>
              <a:t>The </a:t>
            </a:r>
            <a:r>
              <a:rPr lang="en-US" sz="2800" dirty="0"/>
              <a:t>correct key was determined by minimizing the inter-row similarity score, proving the effectiveness of the structural similarity metric </a:t>
            </a:r>
            <a:r>
              <a:rPr lang="en-US" sz="2800" dirty="0" smtClean="0"/>
              <a:t>used.</a:t>
            </a:r>
          </a:p>
          <a:p>
            <a:pPr lvl="1"/>
            <a:r>
              <a:rPr lang="en-US" sz="2800" dirty="0" smtClean="0"/>
              <a:t>The unscrambling kernel efficiently reconstructed each frame in parallel, showing the advantage of pixel-level parallelism on the GPU.</a:t>
            </a:r>
          </a:p>
          <a:p>
            <a:pPr lvl="1"/>
            <a:r>
              <a:rPr lang="en-US" sz="2800" dirty="0" err="1" smtClean="0"/>
              <a:t>OpenCV</a:t>
            </a:r>
            <a:r>
              <a:rPr lang="en-US" sz="2800" dirty="0" smtClean="0"/>
              <a:t> </a:t>
            </a:r>
            <a:r>
              <a:rPr lang="en-US" sz="2800" dirty="0"/>
              <a:t>handled video I/O reliably, while CUDA performed the heavy computation, illustrating a well-balanced CPU–GPU hybrid design</a:t>
            </a:r>
            <a:r>
              <a:rPr lang="en-US" sz="2800" dirty="0" smtClean="0"/>
              <a:t>.</a:t>
            </a:r>
          </a:p>
          <a:p>
            <a:pPr lvl="1"/>
            <a:r>
              <a:rPr lang="en-US" sz="2800" dirty="0" smtClean="0"/>
              <a:t>The </a:t>
            </a:r>
            <a:r>
              <a:rPr lang="en-US" sz="2800" dirty="0"/>
              <a:t>final restored video demonstrates that the approach is robust, scalable, and practical for real-time or near-real-time reconstruction</a:t>
            </a:r>
            <a:r>
              <a:rPr lang="en-US" sz="2800" dirty="0" smtClean="0"/>
              <a:t>.</a:t>
            </a:r>
          </a:p>
          <a:p>
            <a:pPr marL="342900" lvl="1" indent="0">
              <a:buNone/>
            </a:pPr>
            <a:r>
              <a:rPr lang="en-US" sz="2800" dirty="0" smtClean="0"/>
              <a:t>Overall</a:t>
            </a:r>
            <a:r>
              <a:rPr lang="en-US" sz="2800" dirty="0"/>
              <a:t>, the project validates the power of GPU computation for inverse scrambling problems and provides a solid foundation for future work in video restoration, cryptanalysis, or image forensics.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2090586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309</TotalTime>
  <Words>633</Words>
  <Application>Microsoft Office PowerPoint</Application>
  <PresentationFormat>On-screen Show (4:3)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Corbel</vt:lpstr>
      <vt:lpstr>Depth</vt:lpstr>
      <vt:lpstr>Group Members</vt:lpstr>
      <vt:lpstr>Project Goal</vt:lpstr>
      <vt:lpstr>Main work of the GPU</vt:lpstr>
      <vt:lpstr>Step-by-Step Explanation</vt:lpstr>
      <vt:lpstr>Step-by-Step Explanation</vt:lpstr>
      <vt:lpstr>Scrambling formula</vt:lpstr>
      <vt:lpstr>Exact Key Generation</vt:lpstr>
      <vt:lpstr>Permutation Algorithm</vt:lpstr>
      <vt:lpstr>Why CPU for Permutations</vt:lpstr>
      <vt:lpstr>GPU Key Scoring Kernel</vt:lpstr>
      <vt:lpstr>Unscramble Kernel</vt:lpstr>
      <vt:lpstr>Results</vt:lpstr>
      <vt:lpstr>Results</vt:lpstr>
      <vt:lpstr>Conclusion </vt:lpstr>
      <vt:lpstr>Conclusion 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Unscrambler using CUDA &amp; OpenCV</dc:title>
  <dc:subject/>
  <dc:creator/>
  <cp:keywords/>
  <dc:description>generated using python-pptx</dc:description>
  <cp:lastModifiedBy>HANZALLAH</cp:lastModifiedBy>
  <cp:revision>14</cp:revision>
  <dcterms:created xsi:type="dcterms:W3CDTF">2013-01-27T09:14:16Z</dcterms:created>
  <dcterms:modified xsi:type="dcterms:W3CDTF">2025-12-12T12:46:24Z</dcterms:modified>
  <cp:category/>
</cp:coreProperties>
</file>